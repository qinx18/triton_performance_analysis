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Analysis-Guided LLM</a:t>
            </a:r>
            <a:br/>
            <a:r>
              <a:t>Tritonization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defRPr sz="1800" b="0">
                <a:solidFill>
                  <a:srgbClr val="F5F5F5"/>
                </a:solidFill>
                <a:latin typeface="Calibri"/>
              </a:defRPr>
            </a:pPr>
            <a:r>
              <a:t>PET + LLVM Static Analysis  -&gt;  LLM Prompt  -&gt;  GPU Triton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defRPr sz="1400" b="0">
                <a:solidFill>
                  <a:srgbClr val="7F8C8D"/>
                </a:solidFill>
                <a:latin typeface="Calibri"/>
              </a:defRPr>
            </a:pPr>
            <a:r>
              <a:t>Polybench/C 4.2.1  |  30 HPC Kernels  |  16 Analysis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 Kernel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3959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932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Scop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70048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PET / LLVM</a:t>
            </a:r>
            <a:br/>
            <a:r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81044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90772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01768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1496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22492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222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Triton</a:t>
            </a:r>
            <a:br/>
            <a:r>
              <a:t>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321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5294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Test vs</a:t>
            </a:r>
            <a:br/>
            <a:r>
              <a:t>C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C0392B"/>
                </a:solidFill>
                <a:latin typeface="Calibri"/>
              </a:defRPr>
            </a:pPr>
            <a:r>
              <a:t>Retry loop (up to 5x)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 Kernels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 Analysis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Up to 5 Attempts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25/30 Pass (83%)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16 Analysis Modules (PET + LLVM fallback):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WAR Dependencies  |  Parallel Dimensions  |  Reduction Detection  |  Scalar Expansion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Stream Patterns  |  Aliasing  |  Overwrites  |  Indirect Addressing  |  Goto Detection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Loop Distribution  |  Loop Interchange  |  Unrolling  |  Reordering  |  Crossing  |  Convolution  |  Early Exit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PET -- Polyhedral Extraction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What: </a:t>
            </a:r>
            <a:r>
              <a:rPr sz="1500">
                <a:solidFill>
                  <a:srgbClr val="2C3E50"/>
                </a:solidFill>
                <a:latin typeface="Calibri"/>
              </a:rPr>
              <a:t>Parses #pragma scop C regions into a polyhedral model (ISL)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Output: </a:t>
            </a:r>
            <a:r>
              <a:rPr sz="1500">
                <a:solidFill>
                  <a:srgbClr val="2C3E50"/>
                </a:solidFill>
                <a:latin typeface="Calibri"/>
              </a:rPr>
              <a:t>Iteration domains, access relations, schedules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Why polyhedral? Mathematically precise dependency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GEMM 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C3E50"/>
                </a:solidFill>
                <a:latin typeface="Calibri"/>
              </a:defRPr>
            </a:pPr>
            <a:r>
              <a:t>C Kernel: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840480" cy="14630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for (i = 0; i &lt; NI; i++) {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C[i][j] *= beta;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(k = 0; k &lt; NK; k++)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  C[i][j] += alpha*A[i][k]*B[k][j];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C3E50"/>
                </a:solidFill>
                <a:latin typeface="Calibri"/>
              </a:defRPr>
            </a:pPr>
            <a:r>
              <a:t>PET Polyhedral Output: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926080"/>
            <a:ext cx="4114800" cy="14630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Domain S_0: { S_0[i,j] 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0 &lt;= i &lt; 60 and 0 &lt;= j &lt; 70 }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Domain S_1: { S_1[i,k,j] 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0 &lt;= i&lt;60, 0&lt;=k&lt;80, 0&lt;=j&lt;70 }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Write: S_0[i,j] -&gt; C[i,j]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Read:  S_1[i,k,j] -&gt; A[i,k]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Read:  S_1[i,k,j] -&gt; B[k,j]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Write: S_1[i,k,j] -&gt; C[i,j]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LLVM Analysis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Clang AST (JSON)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143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2C3E50"/>
                </a:solidFill>
                <a:latin typeface="Calibri"/>
              </a:defRPr>
            </a:pPr>
            <a:r>
              <a:t>Structure: loops, branches, array refs, function signatures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LLVM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83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2C3E50"/>
                </a:solidFill>
                <a:latin typeface="Calibri"/>
              </a:defRPr>
            </a:pPr>
            <a:r>
              <a:t>Normalized representation: SSA form, optimized at -O1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DependenceAnalysis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2C3E50"/>
                </a:solidFill>
                <a:latin typeface="Calibri"/>
              </a:defRPr>
            </a:pPr>
            <a:r>
              <a:t>Flow / Anti / Output deps:  opt -passes='print&lt;da&gt;'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ScalarEvolution (SCEV)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63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2C3E50"/>
                </a:solidFill>
                <a:latin typeface="Calibri"/>
              </a:defRPr>
            </a:pPr>
            <a:r>
              <a:t>Loop bounds, strides, trip counts, induction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Advantage over PET alone: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Works on any code Clang can compile (no polyhedral restriction)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Handles non-affine, pointer arithmetic, complex control flow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PET requires #pragma scop + affine loops; LLVM has no such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PET &lt;-&gt; LLVM Fallback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500">
                <a:solidFill>
                  <a:srgbClr val="27AE60"/>
                </a:solidFill>
                <a:latin typeface="Calibri"/>
              </a:rPr>
              <a:t>Key Finding: </a:t>
            </a:r>
            <a:r>
              <a:rPr sz="1400">
                <a:solidFill>
                  <a:srgbClr val="2C3E50"/>
                </a:solidFill>
                <a:latin typeface="Calibri"/>
              </a:rPr>
              <a:t>PET succeeds on 207/210 analysis cases (98.6%). LLVM fallback triggered only 3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Analysis Coverage (7 active modules x 30 kernels = 210 cases):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PET success: 207/210 (98.6%)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LLVM fallback used: 3/210 (1.4%)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  ScalarExp on: gemver, mvt, seidel_2d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0 total failures (graceful fallback)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00200"/>
            <a:ext cx="3931920" cy="1097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def try_with_llvm_fallback(pet_func, llvm_func, *args):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result = pet_func(*args)       # PET first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if result is not None: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    return result              # 98.6% of cases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return llvm_func(*args)        # LLVM fallback (1.4%)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E5C8A"/>
                </a:solidFill>
                <a:latin typeface="Calibri"/>
              </a:defRPr>
            </a:pPr>
            <a:r>
              <a:t>Why it matters: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1089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PET's polyhedral model is precise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LLVM fallback = safety net, rarely needed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Both return identical dict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 Kernel 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3977640"/>
            <a:ext cx="27432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PET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3977640"/>
            <a:ext cx="27432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384048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Result 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7AE60"/>
                </a:solidFill>
                <a:latin typeface="Calibri"/>
              </a:defRPr>
            </a:pPr>
            <a:r>
              <a:t>98.6%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611880" y="4343400"/>
            <a:ext cx="228600" cy="228600"/>
          </a:xfrm>
          <a:prstGeom prst="down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470916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LLVM Fallback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63440" y="4846320"/>
            <a:ext cx="27432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470916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Result 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E87D2F"/>
                </a:solidFill>
                <a:latin typeface="Calibri"/>
              </a:defRPr>
            </a:pPr>
            <a:r>
              <a:t>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1">
                <a:solidFill>
                  <a:srgbClr val="C0392B"/>
                </a:solidFill>
                <a:latin typeface="Calibri"/>
              </a:defRPr>
            </a:pPr>
            <a:r>
              <a:t>(fail/None)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WAR Dependency Analysis (Example)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Kernel s115:  a[i] -= aa[j][i] * a[j]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9144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for (i = 0; i &lt; LEN_1D; i++)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  for (j = 0; j &lt; i; j++)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a[i] -= aa[j][i] * a[j];   // reads a[j], writes a[i], j &lt;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PET Detects: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Read access: a[j] (inner index j &lt; i)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Write access: a[i] (outer index i)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Read index != Write index on same array -&gt; WAR conflict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Concurrent threads: thread_j may overwrite a[j] before thread_i reads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Analysis Output: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5486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{ "arrays_needing_copy": ["a"],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  "war_dependencies": [{"array": "a", "read_idx": "j", "write_idx": "i"}]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8229600" cy="41148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27AE60"/>
                </a:solidFill>
                <a:latin typeface="Calibri"/>
              </a:rPr>
              <a:t>Injected into prompt: </a:t>
            </a:r>
            <a:r>
              <a:rPr sz="1300">
                <a:solidFill>
                  <a:srgbClr val="2C3E50"/>
                </a:solidFill>
                <a:latin typeface="Courier New"/>
              </a:rPr>
              <a:t>"Use read-only copy:  a_copy = a.clone()  before the parallel region"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Parallelization &amp; Reduction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GEMM: C[i][j] += alpha * A[i][k] * B[k][j]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48463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Triton Mapping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Parallel (outer)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program_id(0) -&gt; block of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Parallel (inner)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program_id(1) -&gt; block of columns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Reduction (sequential)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In-kernel for loop with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Reduction Classification: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Pattern: C[i][j] += A[i][k] * B[k][j]  -&gt;  classified as "dot product"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Triton strategy: 2D tiling + k-loop accumulation via tl.sum(A * B)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Both i and j are safe to parallelize (no cross-iteration deps on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Injected into Prompt: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6400800" cy="10058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- Parallelize `i`, sequential `j`: VALID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- Parallelize `j`, sequential `i`: VALID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- Parallelize both `i` and `j`: VALID (2D grid)</a:t>
            </a:r>
          </a:p>
          <a:p>
            <a:pPr>
              <a:lnSpc>
                <a:spcPts val="1430"/>
              </a:lnSpc>
              <a:defRPr sz="1100">
                <a:solidFill>
                  <a:srgbClr val="2C3E50"/>
                </a:solidFill>
                <a:latin typeface="Courier New"/>
              </a:defRPr>
            </a:pPr>
            <a:r>
              <a:t>## Reduction: k-dimension (dot product pattern)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-&gt; LLM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Real prompt structure for GEMM (from raw_responses/gemm/attempt1.txt):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C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070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Full kernel with #pragma scop annotations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Parallelization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099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Which dims are parallel, which are reduction</a:t>
            </a:r>
            <a:br/>
            <a:r>
              <a:t>"Parallelize i, sequential j: VALID"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Array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500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A: read-only | B: read-only | C: read-write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Dimension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529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NI=60, NJ=70, NK=80 (compile-time -&gt; runtime)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 Function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5584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def gemm_triton(A, B, C, alpha, beta, NI, NJ, NK)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6. Triton Compilation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587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2C3E50"/>
                </a:solidFill>
                <a:latin typeface="Calibri"/>
              </a:defRPr>
            </a:pPr>
            <a:r>
              <a:t>Critical patterns: tl.arange outside loops,</a:t>
            </a:r>
            <a:br/>
            <a:r>
              <a:t>masked loads, constexpr block sizes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 w="1270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400">
                <a:solidFill>
                  <a:srgbClr val="E87D2F"/>
                </a:solidFill>
                <a:latin typeface="Calibri"/>
              </a:rPr>
              <a:t>Key: </a:t>
            </a:r>
            <a:r>
              <a:rPr sz="1400">
                <a:solidFill>
                  <a:srgbClr val="2C3E50"/>
                </a:solidFill>
                <a:latin typeface="Calibri"/>
              </a:rPr>
              <a:t>Analysis data is embedded as natural language guidance, not hidden metadata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Generated Triton Code -- GEMM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Calibri"/>
              </a:defRPr>
            </a:pPr>
            <a:r>
              <a:t>C Original (6 lines):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for (i = 0; i &lt; NI; i++) {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C[i][j] *= beta;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(k = 0; k &lt; NK; k++)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  C[i][j] += alpha*A[i][k]*B[k][j];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Generated Triton Kernel: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4297680" cy="32004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@triton.jit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def gemm_kernel(A, B, C, alpha, beta,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NI, NJ, NK,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BLOCK_I: tl.constexpr,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BLOCK_J: tl.constexpr):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pid_i = tl.program_id(0)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pid_j = tl.program_id(1)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i_off = pid_i*BLOCK_I + tl.arange(0,BLOCK_I)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j_off = pid_j*BLOCK_J + tl.arange(0,BLOCK_J)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C[i][j] *=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c_idx = i_off[:,None]*NJ + j_off[None,:]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mask = (i_off[:,None]&lt;NI) &amp; (j_off[None,:]&lt;NJ)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 = tl.load(C+c_idx, mask=mask) *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k-loop accumulation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k in range(NK):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a = tl.load(A + i_off*NK+k, mask=i_off&lt;NI)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b = tl.load(B + k*NJ+j_off, mask=j_off&lt;NJ)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c += alpha * a[:,None] * b[None,:]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tl.store(C+c_idx, c, mask=mask)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E5C8A"/>
                </a:solidFill>
                <a:latin typeface="Calibri"/>
              </a:defRPr>
            </a:pPr>
            <a:r>
              <a:t>Key Triton Patterns: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2D tiling: pid_i, pid_j -&gt; block of C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Masked loads: boundary safety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k-loop: sequential accumulation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Broadcasting: a[:,None] * b[None,:]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Scalar broadcast: alpha, beta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572000"/>
            <a:ext cx="32004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First-try pass  |  3.00x speedup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27AE60"/>
                </a:solidFill>
                <a:latin typeface="Calibri"/>
              </a:defRPr>
            </a:pPr>
            <a:r>
              <a:t>Correctness: 25/30 (83.3%)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11 first-try passes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14 after retry (up to 5 attempts)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vs TSVC: 150/151 (99.3%)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defRPr sz="1800" b="1">
                <a:solidFill>
                  <a:srgbClr val="2E5C8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Median speedup: 1.76x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Mean speedup: 2.05x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GPU wins (&gt;1x): 18/25 (72%)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Top Speedups: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Triton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5.28x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3.96x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3.26x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3.12x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C0392B"/>
                </a:solidFill>
                <a:latin typeface="Calibri"/>
              </a:defRPr>
            </a:pPr>
            <a:r>
              <a:t>Slowdowns: nussinov (0.04x), trisolv (0.04x) -- sequential algorithms on GPU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Failure Analysis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C0392B"/>
                </a:solidFill>
                <a:latin typeface="Calibri"/>
              </a:defRPr>
            </a:pPr>
            <a:r>
              <a:t>5 Failing Kernels (all fundamentally sequential):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3D tensor contraction with sequential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Levinson-Durbin recursion: each step depends on all previous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Sequential orthogonalization: each vector depends on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 decomposition: sequential pivot-dependent updates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Gauss-Seidel: reads current-iteration neighbors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E87D2F"/>
                </a:solidFill>
                <a:latin typeface="Calibri"/>
              </a:defRPr>
            </a:pPr>
            <a:r>
              <a:t>7 Slowdown Kernels (&lt;1x): sequential algorithms that don't benefit from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b="1" sz="1500">
                <a:solidFill>
                  <a:srgbClr val="2E5C8A"/>
                </a:solidFill>
                <a:latin typeface="Calibri"/>
              </a:rPr>
              <a:t>Key Insight: </a:t>
            </a:r>
            <a:r>
              <a:rPr sz="1400">
                <a:solidFill>
                  <a:srgbClr val="2C3E50"/>
                </a:solidFill>
                <a:latin typeface="Calibri"/>
              </a:rPr>
              <a:t>Static analysis correctly identifies parallelizable vs sequential kernels. The LLM leverages this guidance effectively, but cannot overcome fundamental algorithmic limits -- sequential dependencies are a property of the algorithm, not a failure of the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Ablation: Analysis vs No-Analysis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Same pipeline, same model (Sonnet), same 5 retries -- only difference: analysis in prompt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25/30 (83.3%)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16/30 (53.3%)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First-Try 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Avg Attempts (passed)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1B2A4A"/>
                </a:solidFill>
                <a:latin typeface="Calibri"/>
              </a:defRPr>
            </a:pPr>
            <a:r>
              <a:t>What analysis provides: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Which dims to parallelize vs keep sequential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WAR deps: need array copies before parallel region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Reduction type: how to accumulate (tl.sum, etc.)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Scalar expansion: privatize loop-carried scalars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E87D2F"/>
                </a:solidFill>
                <a:latin typeface="Calibri"/>
              </a:defRPr>
            </a:pPr>
            <a:r>
              <a:t>Without analysis, LLM must: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337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Infer parallelism from C code alone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Guess correct memory access patterns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Discover dependencies by trial and error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Rely entirely on retry-with-error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400">
                <a:solidFill>
                  <a:srgbClr val="2E5C8A"/>
                </a:solidFill>
                <a:latin typeface="Calibri"/>
              </a:rPr>
              <a:t>Takeaway: </a:t>
            </a:r>
            <a:r>
              <a:rPr sz="1300">
                <a:solidFill>
                  <a:srgbClr val="2C3E50"/>
                </a:solidFill>
                <a:latin typeface="Calibri"/>
              </a:rPr>
              <a:t>Static analysis provides structured guidance that reduces trial-and-error, especially for complex kernels with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